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6"/>
  </p:notes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4" r:id="rId9"/>
    <p:sldId id="265" r:id="rId10"/>
    <p:sldId id="266" r:id="rId11"/>
    <p:sldId id="267" r:id="rId12"/>
    <p:sldId id="268" r:id="rId13"/>
    <p:sldId id="269" r:id="rId14"/>
    <p:sldId id="26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-1232" y="-10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interSettings" Target="printerSettings/printerSettings1.bin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8E2E1-8886-43B2-B986-F2B06DAA2FAC}" type="datetimeFigureOut">
              <a:rPr lang="en-IN" smtClean="0"/>
              <a:t>05/10/26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59FDF3-42B5-4A41-B75E-186C389084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9858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2592BF-19BE-9BF0-E2FC-07A36D054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383AB4F9-CBB3-B18D-E917-C3B0641867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50F18A0-E201-1900-A139-E830DD3EA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3E78AE-7F97-4550-9DD8-BF69171FDC30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D0906B9-B1F6-B52E-2EE0-7595B1EB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7A13AE1-F96E-D540-8DE1-8D903DB30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5197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32F7EA-3EC9-99AF-13A9-22A3F8B2D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C71419B-73DB-15DA-D2EE-0FC01B435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B080259-8D20-E29B-4DC5-312C3DB01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101830E-3502-194A-88FA-DC3E0F1B3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CF6703C-229C-43C6-0484-38EC263AD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3990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E0CE344-6494-09A6-A5E4-811EEE0CD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351A0E2-2B9B-B96E-A3FD-0B26BDDBEB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767CE67-8E8A-4D0D-42DF-DDC842B1B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2BD8-A2C4-424B-809A-C64DDCC305D9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3A78C3E-C139-1FD1-979B-D71679959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932F297-889B-B694-6DD5-92F8A6AA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814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792C89C-FEA2-11F6-7988-ADD14A7B2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0E5DE7B-A406-1142-36EA-1C14987402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D4355A2B-361E-86CB-ABBE-C510D2B22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50DA5E84-A1E0-A1C4-F7E6-DA9E7B124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0F4BC-B3A4-46AF-9AEC-8478EF1369D5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D5DDA460-54C8-F2AC-C053-53FF3FAFC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E6F132A-BD40-58D2-CEEC-A1BA2B9E2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223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05823BE-2514-8722-ED45-41E13E46B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64BFEE3B-6ABA-1D24-97FE-717EBBC99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5C653C42-4C6D-988F-42A0-8639A508A6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F2B662B4-F942-A78F-394F-74F603717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5B445FBE-A81E-92E1-36E3-99D1586F83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B6D20C02-77C2-CB2A-62F8-60B8C6262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A2993-B405-4F4D-B968-A01C27211659}" type="datetime1">
              <a:rPr lang="en-IN" smtClean="0"/>
              <a:t>05/10/26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AD033241-EB08-777E-F678-5D641F64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40D711ED-181F-C690-A3B3-1D82670FC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9272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77468B4-E355-69B3-7598-80ADF2F9C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E2F1AB3B-AFC6-3627-62E6-22313061F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8C8C-5FBB-4DD7-A06D-BE263480794B}" type="datetime1">
              <a:rPr lang="en-IN" smtClean="0"/>
              <a:t>05/10/26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2B2C6591-48E4-480E-7965-DE9F83015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F10C9D68-A16A-B2D3-C8A6-B5221AF7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5061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A23F289A-3AD7-C11D-1594-90A35E592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2985-06EC-459B-80C8-F6F4362A1C03}" type="datetime1">
              <a:rPr lang="en-IN" smtClean="0"/>
              <a:t>05/10/26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8C252269-BBE3-199F-299B-38D4E9CC1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7407FDC-B2A9-1304-047F-5808A0B6B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7265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25A4847-FC20-D9BF-0BDE-26EC7EF74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8D9C584-AC19-D7B4-9DFE-7C1BC2E1B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2F4A3262-CE8D-2419-DCCC-C536E9FDA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294758D6-7AF2-29C5-E0EE-3B7BE155E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7E9DA-13C6-48A4-9305-B592482DE8CE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45AAC7E7-68C4-7616-2DE1-0333E2C44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E9EF51B-1685-66FF-0783-23584C2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387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3939D0E-3A71-7252-C837-B8281F0DE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AFE3D557-6893-299F-57A8-A7B173F101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4CC8BA2-BB08-F4E3-5660-C7370BA568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CE57E1CE-C7CA-966D-8661-1E99A7DA2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E7C4B-C575-4DCF-9B63-045662930500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66055516-3E64-07E5-10C5-DE056657E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AFBA5AD5-9867-E76D-C035-2856CCFB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0179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E71D7EC-16EA-5009-5D33-ABFC55F28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EB09EC6D-8ED5-29E9-9444-CC2D6A1CB8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C1ADFC6-7CEA-ABEE-94C2-870B1E657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931C-EA1A-43DD-B3B3-66F5BA587712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B1FA3A5-596E-6C2A-F853-30C5DC6FB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12CE6B1-CE87-B68F-9494-FA6D109F3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80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AF0FF105-FC99-2BCB-131F-2B902F8BAE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50354FD6-064F-6E12-E8DE-81EC913CDB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F1D2109-32D1-4A0F-F903-5142A204E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9B0E1-7C95-4C20-B9C6-BA51F388E878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3E5353D-EEF9-CF3C-A97F-F0F0EBFA7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DF2F1DC-3958-BCDE-9A16-88E928E7E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33540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85454249-E28B-CF91-F4A6-9762E4F38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1E3D641-7C66-CA7D-30A7-7F95AC27E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5E1D408-B228-838E-3E43-4304680A53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827C3E-786B-4150-9177-1C28966A2ADC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DCEC7A69-1922-F157-900C-FF9566831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1B80E76-E345-1553-9664-0BCF569B55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184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forms.gle/B9B71VPy5b9bZ9dJ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rxiv.org/abs/2110.03680" TargetMode="External"/><Relationship Id="rId3" Type="http://schemas.openxmlformats.org/officeDocument/2006/relationships/hyperlink" Target="https://paperswithcode.com/paper/real-world-mobile-image-denoising-dataset" TargetMode="External"/><Relationship Id="rId4" Type="http://schemas.openxmlformats.org/officeDocument/2006/relationships/hyperlink" Target="https://theses.lib.polyu.edu.hk/handle/200/12922" TargetMode="External"/><Relationship Id="rId5" Type="http://schemas.openxmlformats.org/officeDocument/2006/relationships/hyperlink" Target="https://ieeexplore.ieee.org/document/10035968" TargetMode="External"/><Relationship Id="rId6" Type="http://schemas.openxmlformats.org/officeDocument/2006/relationships/hyperlink" Target="https://www.researchgate.net/publication/379162688_Comparative_Analysis_of_Noise_Reduction_Filters_for_Medical_Images" TargetMode="External"/><Relationship Id="rId7" Type="http://schemas.openxmlformats.org/officeDocument/2006/relationships/hyperlink" Target="https://www.researchgate.net/publication/379091587_Development_of_Alternative_Filters_to_Enhance_the_Quality_of_Digital_Images" TargetMode="External"/><Relationship Id="rId8" Type="http://schemas.openxmlformats.org/officeDocument/2006/relationships/hyperlink" Target="https://link.springer.com/article/10.1007/s11042-023-17468-2" TargetMode="External"/><Relationship Id="rId9" Type="http://schemas.openxmlformats.org/officeDocument/2006/relationships/hyperlink" Target="https://ieeexplore.ieee.org/document/10483686" TargetMode="External"/><Relationship Id="rId10" Type="http://schemas.openxmlformats.org/officeDocument/2006/relationships/hyperlink" Target="https://ieeexplore.ieee.org/abstract/document/10054440" TargetMode="External"/><Relationship Id="rId11" Type="http://schemas.openxmlformats.org/officeDocument/2006/relationships/hyperlink" Target="https://ieeexplore.ieee.org/abstract/document/10136117" TargetMode="External"/><Relationship Id="rId12" Type="http://schemas.openxmlformats.org/officeDocument/2006/relationships/hyperlink" Target="https://link.springer.com/article/10.1007/s13042-022-01694-5" TargetMode="External"/><Relationship Id="rId13" Type="http://schemas.openxmlformats.org/officeDocument/2006/relationships/hyperlink" Target="https://ieeexplore.ieee.org/abstract/document/10092851" TargetMode="External"/><Relationship Id="rId14" Type="http://schemas.openxmlformats.org/officeDocument/2006/relationships/hyperlink" Target="https://ieeexplore.ieee.org/abstract/document/10424911" TargetMode="External"/><Relationship Id="rId15" Type="http://schemas.openxmlformats.org/officeDocument/2006/relationships/hyperlink" Target="https://ieeexplore.ieee.org/abstract/document/10069162/" TargetMode="External"/><Relationship Id="rId16" Type="http://schemas.openxmlformats.org/officeDocument/2006/relationships/hyperlink" Target="https://link.springer.com/article/10.1007/s11760-024-03086-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3E9E27CD-EF84-CB3A-3D07-A31523568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236" y="-11493"/>
            <a:ext cx="4517528" cy="187163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xmlns="" id="{8BAD67C4-20B4-E1F6-A7E7-C8C33181D0C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907459" y="1934141"/>
            <a:ext cx="8924544" cy="108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500" b="1">
                <a:solidFill>
                  <a:srgbClr val="00629B"/>
                </a:solidFill>
                <a:latin typeface="Arial"/>
              </a:defRPr>
            </a:pPr>
            <a:r>
              <a:t>B.Tech Computer Science and Engineering • Project Review 3</a:t>
            </a:r>
          </a:p>
          <a:p>
            <a:pPr algn="ctr">
              <a:defRPr sz="2200" b="1">
                <a:solidFill>
                  <a:srgbClr val="142850"/>
                </a:solidFill>
                <a:latin typeface="Arial"/>
              </a:defRPr>
            </a:pPr>
            <a:r>
              <a:t>Image Denoising Using Machine Learning for Smartphone Images</a:t>
            </a:r>
          </a:p>
          <a:p>
            <a:pPr algn="ctr">
              <a:defRPr sz="1300" i="1">
                <a:solidFill>
                  <a:srgbClr val="646464"/>
                </a:solidFill>
                <a:latin typeface="Arial"/>
              </a:defRPr>
            </a:pPr>
            <a:r>
              <a:t>(NeuroClean: Hybrid U-Net–DnCNN Dual-Stream Deep Learning Framework)</a:t>
            </a:r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xmlns="" id="{68BC382C-506F-4908-6AC3-C0AA73064F47}"/>
              </a:ext>
            </a:extLst>
          </p:cNvPr>
          <p:cNvSpPr txBox="1"/>
          <p:nvPr/>
        </p:nvSpPr>
        <p:spPr>
          <a:xfrm>
            <a:off x="2609088" y="3208471"/>
            <a:ext cx="7071360" cy="24608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  <a:defRPr sz="1300" b="1">
                <a:solidFill>
                  <a:srgbClr val="00629B"/>
                </a:solidFill>
                <a:latin typeface="Arial"/>
              </a:defRPr>
            </a:pPr>
            <a:r>
              <a:t>Team Members:</a:t>
            </a:r>
            <a:endParaRPr sz="1800" dirty="0">
              <a:latin typeface="Times New Roman"/>
              <a:cs typeface="Times New Roman"/>
            </a:endParaRPr>
          </a:p>
          <a:p>
            <a:pPr>
              <a:defRPr sz="1200" b="1">
                <a:solidFill>
                  <a:srgbClr val="1E1E1E"/>
                </a:solidFill>
                <a:latin typeface="Arial"/>
              </a:defRPr>
            </a:pPr>
            <a:r>
              <a:t>• MAJJI NAVEEN               (23BCI0131)</a:t>
            </a:r>
          </a:p>
          <a:p>
            <a:pPr>
              <a:defRPr sz="1200" b="1">
                <a:solidFill>
                  <a:srgbClr val="1E1E1E"/>
                </a:solidFill>
                <a:latin typeface="Arial"/>
              </a:defRPr>
            </a:pPr>
            <a:r>
              <a:t>• PARRI HARI CHANDAN         (23BCT0153)</a:t>
            </a:r>
          </a:p>
          <a:p>
            <a:pPr>
              <a:defRPr sz="1200" b="1">
                <a:solidFill>
                  <a:srgbClr val="1E1E1E"/>
                </a:solidFill>
                <a:latin typeface="Arial"/>
              </a:defRPr>
            </a:pPr>
            <a:r>
              <a:t>• M. SIVA CHARAN REDDY       (23BDS0156)</a:t>
            </a:r>
          </a:p>
          <a:p>
            <a:br/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Faculty Guide / Supervisor:</a:t>
            </a:r>
          </a:p>
          <a:p>
            <a:pPr>
              <a:defRPr sz="1200" b="1">
                <a:solidFill>
                  <a:srgbClr val="1E1E1E"/>
                </a:solidFill>
                <a:latin typeface="Arial"/>
              </a:defRPr>
            </a:pPr>
            <a:r>
              <a:t>Dr. JAYALAKSHMI M (Associate Professor, SCOPE)</a:t>
            </a:r>
          </a:p>
        </p:txBody>
      </p:sp>
    </p:spTree>
    <p:extLst>
      <p:ext uri="{BB962C8B-B14F-4D97-AF65-F5344CB8AC3E}">
        <p14:creationId xmlns:p14="http://schemas.microsoft.com/office/powerpoint/2010/main" val="42430368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6ACBE13-A9D6-9564-DA47-597E38E0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Approval Mail From Guide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233367C-DAD6-6E34-D21A-A981C0944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 sz="1500" b="1">
                <a:solidFill>
                  <a:srgbClr val="00629B"/>
                </a:solidFill>
                <a:latin typeface="Arial"/>
              </a:defRPr>
            </a:pPr>
            <a:r>
              <a:t>Project Review Approval Status:</a:t>
            </a:r>
          </a:p>
          <a:p>
            <a:pPr>
              <a:defRPr sz="1200" b="1">
                <a:solidFill>
                  <a:srgbClr val="282828"/>
                </a:solidFill>
                <a:latin typeface="Arial"/>
              </a:defRPr>
            </a:pPr>
            <a:r>
              <a:t>• Project ID: 11790UG05   |   Semester: Fall Semester   |   Review: Project Review 3</a:t>
            </a:r>
            <a:br/>
          </a:p>
          <a:p>
            <a:pPr>
              <a:defRPr sz="1250" b="1">
                <a:solidFill>
                  <a:srgbClr val="00629B"/>
                </a:solidFill>
                <a:latin typeface="Arial"/>
              </a:defRPr>
            </a:pPr>
            <a:r>
              <a:t>Guide Approval Confirmation (Sample Record):</a:t>
            </a:r>
          </a:p>
          <a:p>
            <a:pPr>
              <a:defRPr sz="1300" b="1" i="1">
                <a:solidFill>
                  <a:srgbClr val="145014"/>
                </a:solidFill>
                <a:latin typeface="Arial"/>
              </a:defRPr>
            </a:pPr>
            <a:r>
              <a:t>"The Fall Semester Project Review 3 for Project ID 11790UG05 has been approved."</a:t>
            </a:r>
          </a:p>
          <a:p>
            <a:pPr>
              <a:defRPr sz="1150" b="0">
                <a:solidFill>
                  <a:srgbClr val="282828"/>
                </a:solidFill>
                <a:latin typeface="Arial"/>
              </a:defRPr>
            </a:pPr>
            <a:r>
              <a:t>   [APPROVED]  Meeting with Guide Frequently:  Satisfied</a:t>
            </a:r>
          </a:p>
          <a:p>
            <a:pPr>
              <a:defRPr sz="1150" b="0">
                <a:solidFill>
                  <a:srgbClr val="282828"/>
                </a:solidFill>
                <a:latin typeface="Arial"/>
              </a:defRPr>
            </a:pPr>
            <a:r>
              <a:t>   [APPROVED]  PowerPoint Presentation:  Approved</a:t>
            </a:r>
          </a:p>
          <a:p>
            <a:pPr>
              <a:defRPr sz="1150" b="0">
                <a:solidFill>
                  <a:srgbClr val="282828"/>
                </a:solidFill>
                <a:latin typeface="Arial"/>
              </a:defRPr>
            </a:pPr>
            <a:r>
              <a:t>   [APPROVED]  Project Demonstration:  Approved</a:t>
            </a:r>
          </a:p>
          <a:p>
            <a:pPr>
              <a:defRPr sz="1150" b="0">
                <a:solidFill>
                  <a:srgbClr val="282828"/>
                </a:solidFill>
                <a:latin typeface="Arial"/>
              </a:defRPr>
            </a:pPr>
            <a:r>
              <a:t>   [APPROVED]  Final Project Report:  Satisfied</a:t>
            </a:r>
          </a:p>
          <a:p>
            <a:pPr>
              <a:defRPr sz="1150" b="1">
                <a:solidFill>
                  <a:srgbClr val="006432"/>
                </a:solidFill>
                <a:latin typeface="Arial"/>
              </a:defRPr>
            </a:pPr>
            <a:r>
              <a:t>   [APPROVED]  Project Outcome:  Completed</a:t>
            </a:r>
          </a:p>
          <a:p>
            <a:pPr>
              <a:defRPr sz="1150" b="1">
                <a:solidFill>
                  <a:srgbClr val="006432"/>
                </a:solidFill>
                <a:latin typeface="Arial"/>
              </a:defRPr>
            </a:pPr>
            <a:r>
              <a:t>   [APPROVED]  Turnitin Plagiarism Percentage:  13%</a:t>
            </a:r>
          </a:p>
          <a:p>
            <a:pPr>
              <a:defRPr sz="1150" b="1">
                <a:solidFill>
                  <a:srgbClr val="006432"/>
                </a:solidFill>
                <a:latin typeface="Arial"/>
              </a:defRPr>
            </a:pPr>
            <a:r>
              <a:t>   [APPROVED]  Turnitin AI Score:  Nil % (Requirement: &lt;= 25%)</a:t>
            </a:r>
          </a:p>
          <a:p>
            <a:br/>
            <a:pPr>
              <a:defRPr sz="1150" i="1">
                <a:solidFill>
                  <a:srgbClr val="464646"/>
                </a:solidFill>
                <a:latin typeface="Arial"/>
              </a:defRPr>
            </a:pPr>
            <a:r>
              <a:t>All the above aspects are addressed, implemented, and updated by the project team.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7827C50-3ED3-2DB6-C227-6784C6CA9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05/10/26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6664170-792F-28F8-1C31-5F7A8D69F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E16528B-72DB-0275-6A94-33ABB5CD7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2</a:t>
            </a:fld>
            <a:endParaRPr lang="en-IN"/>
          </a:p>
        </p:txBody>
      </p:sp>
      <p:pic>
        <p:nvPicPr>
          <p:cNvPr id="7" name="Picture 6" descr="Screen Shot 2026-10-05 at 11.12.42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0053" y="2703606"/>
            <a:ext cx="8942979" cy="2671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56062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D68A428-04DA-E6A8-7606-5D2FE5F31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400" b="1">
                <a:solidFill>
                  <a:srgbClr val="00629B"/>
                </a:solidFill>
                <a:latin typeface="Arial"/>
              </a:defRPr>
            </a:pPr>
            <a:r>
              <a:t>Primary Aim: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To design, develop, and deploy a robust deep-learning-based computational photography system (NeuroClean) that effectively removes stochastic Poisson photon shot noise, amplifier read noise, and chromatic grain from high-ISO and low-light smartphone photographs, while rigorously preserving 100% of native image dimensions, aspect ratios, and fine textural fidelity.</a:t>
            </a:r>
          </a:p>
          <a:p>
            <a:br/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Key Sub-Aims:</a:t>
            </a:r>
          </a:p>
          <a:p>
            <a:pPr>
              <a:defRPr sz="1150">
                <a:solidFill>
                  <a:srgbClr val="282828"/>
                </a:solidFill>
                <a:latin typeface="Arial"/>
              </a:defRPr>
            </a:pPr>
            <a:r>
              <a:t>• Dual-Stream Neural Modeling: Formulate a hybrid U-Net–DnCNN architecture to extract macro contextual illumination while preserving micro-scale spatial edge details.</a:t>
            </a:r>
          </a:p>
          <a:p>
            <a:pPr>
              <a:defRPr sz="1150">
                <a:solidFill>
                  <a:srgbClr val="282828"/>
                </a:solidFill>
                <a:latin typeface="Arial"/>
              </a:defRPr>
            </a:pPr>
            <a:r>
              <a:t>• Deep Residual Subtraction: Train the model to isolate the underlying noise field R(y) rather than direct clean image generation: x̂ = clip(y - R_hybrid(y), 0, 1).</a:t>
            </a:r>
          </a:p>
          <a:p>
            <a:pPr>
              <a:defRPr sz="1150">
                <a:solidFill>
                  <a:srgbClr val="282828"/>
                </a:solidFill>
                <a:latin typeface="Arial"/>
              </a:defRPr>
            </a:pPr>
            <a:r>
              <a:t>• Artifact-Free Full-Resolution Tiling: Implement a 2D Hann-window overlapping cosine tiling engine with exact partition of unity to eliminate border stitching seams and GPU memory faults.</a:t>
            </a:r>
          </a:p>
          <a:p>
            <a:pPr>
              <a:defRPr sz="1150">
                <a:solidFill>
                  <a:srgbClr val="282828"/>
                </a:solidFill>
                <a:latin typeface="Arial"/>
              </a:defRPr>
            </a:pPr>
            <a:r>
              <a:t>• End-to-End Web-Based Deployment: Deploy an asynchronous FastAPI microservice paired with a responsive React/TypeScript studio featuring real-time before/after split sliders and Three.js 3D sensor simulation.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027305EA-516C-11F8-8A54-2BA046094A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779E6AA7-AE20-8A91-BA42-261BF76A2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6562-4E3F-4038-A291-A7AE35CC3E6A}" type="datetime1">
              <a:rPr lang="en-IN" smtClean="0"/>
              <a:t>05/10/26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B77FE434-77F0-B8BE-9198-66090332F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5AD6A9DA-AEE9-F6FE-EFA8-06396314F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351886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0BD95E8-8D7C-F548-8B75-23C3B2B15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5DDED8F-1EBD-2E10-598E-0CA3F56F0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Problem Statement &amp; Context:</a:t>
            </a:r>
          </a:p>
          <a:p>
            <a:pPr>
              <a:defRPr sz="1100">
                <a:solidFill>
                  <a:srgbClr val="282828"/>
                </a:solidFill>
                <a:latin typeface="Arial"/>
              </a:defRPr>
            </a:pPr>
            <a:r>
              <a:t>Smartphone camera sensors are physically restricted by sub-micron to micron pixel pitches (1.0–1.4 μm) and micro-apertures. Under low-light settings, severe Poisson photon shot noise and chromatic mottling degrade image fidelity. Standard multi-scale autoencoders (U-Net) oversmooth high-frequency textures through spatial pooling, whereas feed-forward networks (DnCNN) have strictly limited receptive fields (21×21 pixels), failing to remove wide-area chroma blotches.</a:t>
            </a:r>
          </a:p>
          <a:p>
            <a:br/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Proposed Hybrid Methodology &amp; Tiling Engine:</a:t>
            </a:r>
          </a:p>
          <a:p>
            <a:pPr>
              <a:defRPr sz="1100">
                <a:solidFill>
                  <a:srgbClr val="282828"/>
                </a:solidFill>
                <a:latin typeface="Arial"/>
              </a:defRPr>
            </a:pPr>
            <a:r>
              <a:t>We propose NeuroClean, introducing a dual-stream Hybrid U-Net–DnCNN architecture that combines multi-scale context flow with non-pooling residual grain modeling joined by 1×1 cross-channel fusion. To process arbitrary megapixel photographs without memory bloat or boundary seams, we engineer a 2D Hann-window overlapping cosine tiling engine satisfying the mathematical partition of unity (Σ w = 1.0).</a:t>
            </a:r>
          </a:p>
          <a:p>
            <a:br/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Key Results &amp; Outcomes:</a:t>
            </a:r>
          </a:p>
          <a:p>
            <a:pPr>
              <a:defRPr sz="1100">
                <a:solidFill>
                  <a:srgbClr val="282828"/>
                </a:solidFill>
                <a:latin typeface="Arial"/>
              </a:defRPr>
            </a:pPr>
            <a:r>
              <a:t>Evaluated on paired real-world smartphone photographs (1404×2040 native resolution), our model achieves 28.60+ dB PSNR and 0.8920+ SSIM (+4.56 dB and +0.1915 over raw noisy baseline, p &lt; 0.001). The system is deployed online via an asynchronous FastAPI backend and React glassmorphic UI, with a full-length manuscript prepared for Springer Nature (MTAP).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156C6ACB-BF9E-DB99-B99C-4896C6527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7C3D067F-DF0A-3BD2-0B9E-C22E39B7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61D5D-2F82-4210-B67C-C3AADE7FED47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1EFD8C3-C2D0-4BBB-7FD8-43FE2C084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BB9991A-41D4-F0AB-EF39-ACE70C81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309793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F0AE58-8206-476A-BECC-A1ADC0EA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xmlns="" id="{89F3C486-F1E8-5229-C983-C5D8372F19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4647" y="1374470"/>
            <a:ext cx="10169009" cy="2054530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xmlns="" id="{435FB437-6170-6BA2-1A38-A902855A3E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8056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2EB6993A-B8FB-1E92-71D4-98155A7ED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858" y="4611603"/>
            <a:ext cx="4017612" cy="487722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xmlns="" id="{913BC6E0-D294-E70D-8B27-13FBFEE5E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9193B-09C0-4C85-858C-650926A9B146}" type="datetime1">
              <a:rPr lang="en-IN" smtClean="0"/>
              <a:t>05/10/26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xmlns="" id="{1F284BA2-3334-3EC1-0E81-4C909589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xmlns="" id="{5A8F14EB-D02F-8EDE-87F4-A3F7E8D20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5</a:t>
            </a:fld>
            <a:endParaRPr lang="en-IN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Paper / Author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Objective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Methodology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Pros / Cons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Findings / Limitations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BM3D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(Dabov et al., 2007)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Image denoising using transform domain sparsity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Block-matching and 3D collaborative Wiener filtering in transform domain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Pros: Strong benchmark on Gaussian noise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Cons: O(N²) search complexity, blurs real camera grain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Introduces watercolor-like smearing on real smartphone noise patterns.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DnCNN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(Zhang et al., 2017)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Deep CNN for residual noise estimation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17-20 convolutional layers with Batch Normalization &amp; ReLU operating at full resolution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Pros: Fast convergence, preserves fine grain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Cons: Receptive field strictly limited to 21×21 pixels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Cannot resolve wide-area chroma blotches due to depth-bounded receptive field.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U-Net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(Ronneberger et al., 2015)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Contextual feature preservation for image restoration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Contracting-expansive encoder-decoder with pooling and long skip connections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Pros: Captures global context and luminance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Cons: Spatial pooling destroys micro-textures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Causes edge softening and phase artifacts upon bilinear/transposed upsampling.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CBDNet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(Guo et al., 2019)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Blind denoising for real camera photographs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Noise estimation subnetwork coupled with asymmetric loss and U-Net backbone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Pros: Realistic noise modeling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Cons: High compute cost, complex multi-network 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Effective on synthetic-real blend, but heavy latency for interactive web inference.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Restormer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(Zamir et al., 2022)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Transformer-based high-resolution restoration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Multi-Dconv head transposed attention with gated feed-forward networks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Pros: High benchmark scores on crop datasets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Cons: Prohibitive compute requirements for edge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Too memory-intensive for direct full-resolution processing on mobile/standard GPUs.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7449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FD64C5E-26B3-2EE9-895A-F822E4C49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07F8AC8-6380-9217-CA4C-1FBF1C25C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Gap 1: The Context vs. Texture Grain Dilemma:</a:t>
            </a:r>
          </a:p>
          <a:p>
            <a:pPr>
              <a:defRPr sz="1100">
                <a:solidFill>
                  <a:srgbClr val="282828"/>
                </a:solidFill>
                <a:latin typeface="Arial"/>
              </a:defRPr>
            </a:pPr>
            <a:r>
              <a:t>Existing deep restoration networks force a compromise: deep feed-forward models (DnCNN) maintain native resolution and capture fine pixel grain but have a mathematically bounded receptive field (21×21 pixels), making them blind to wide-area chroma mottling. Conversely, multi-scale encoder-decoder networks (U-Net) capture global luminance context through pooling but destroy organic high-frequency textures.</a:t>
            </a:r>
            <a:br/>
          </a:p>
          <a:p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Gap 2: High-Resolution Tiling &amp; Boundary Discontinuity Barrier:</a:t>
            </a:r>
          </a:p>
          <a:p>
            <a:pPr>
              <a:defRPr sz="1100">
                <a:solidFill>
                  <a:srgbClr val="282828"/>
                </a:solidFill>
                <a:latin typeface="Arial"/>
              </a:defRPr>
            </a:pPr>
            <a:r>
              <a:t>Real smartphone photographs regularly exceed 12 to 48 megapixels (3000×4000 to 6000×8000). Direct whole-image tensor processing triggers fatal GPU Out-Of-Memory (OOM) allocation faults. Naive non-overlapping block tiling creates severe orthogonal grid-line boundary stitching discontinuities due to truncated receptive fields at patch edges.</a:t>
            </a:r>
            <a:br/>
          </a:p>
          <a:p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Gap 3: The Prototype-to-Production Deployment Disconnect:</a:t>
            </a:r>
          </a:p>
          <a:p>
            <a:pPr>
              <a:defRPr sz="1100">
                <a:solidFill>
                  <a:srgbClr val="282828"/>
                </a:solidFill>
                <a:latin typeface="Arial"/>
              </a:defRPr>
            </a:pPr>
            <a:r>
              <a:t>The overwhelming majority of image denoising research terminates with isolated offline Python or MATLAB scripts tested on downsampled crops. There is a lack of accessible, full-stack, privacy-preserving web services supporting arbitrary dimensions, aspect ratios, live quality metrics, and interactive client-side before/after split sliders.</a:t>
            </a:r>
            <a:br/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2E07AC55-BA5E-4123-39E6-B79860C6C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A2430A72-466B-CBDE-2F02-635BA91A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E986A-8308-4C4E-A0F3-DDD9B5B25762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711DDA3-7A7C-1F61-1795-3A01ED678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D94E3226-1DB1-3A4D-CE37-4A2AD48EF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3102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F50AAC-0156-D6F5-7153-C79199994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283ADE1-559A-2DC2-A801-6A915E106C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1. Dual-Stream Synergy: Design a Hybrid U-Net–DnCNN architecture combining multi-scale context flow with non-pooling residual grain modeling via 1×1 cross-channel fusion.</a:t>
            </a:r>
          </a:p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2. Deep Residual Learning: Formulate the network objective as residual noise estimation R(y), recovering clean images via x̂ = clip(y - R_hybrid(y), 0, 1).</a:t>
            </a:r>
          </a:p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3. Seamless Tiling Engine: Formulate and implement a 2D Hann-window overlapping cosine tiling engine with partition-of-unity proof (Σ w = 1.0) to process arbitrary dimensions without boundary artifacts.</a:t>
            </a:r>
          </a:p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4. Empirical Validation: Benchmark the model against classical and deep learning baselines on 100 paired real-world smartphone captures (1404×2040) with Holm-corrected statistical tests.</a:t>
            </a:r>
          </a:p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5. Full-Stack Cloud Deployment: Deliver an open-source, asynchronous web studio (FastAPI + React 18) featuring live noise estimation (σ̂) and a 3D Three.js photodiode visualizer.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22BADD22-870A-4D8F-B788-CCCD5C223F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1BE4F0EB-E8F1-14D8-E22A-38E83F9BF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6D8B93F-BA73-08B5-E0DD-D434FA25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6BABF72-E9F9-626A-63CD-EA20C0714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82632EBB-2D05-8D00-7F98-43CBAFAF06ED}"/>
              </a:ext>
            </a:extLst>
          </p:cNvPr>
          <p:cNvSpPr txBox="1"/>
          <p:nvPr/>
        </p:nvSpPr>
        <p:spPr>
          <a:xfrm>
            <a:off x="460248" y="4413148"/>
            <a:ext cx="1152340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100" b="1">
                <a:solidFill>
                  <a:srgbClr val="00629B"/>
                </a:solidFill>
                <a:latin typeface="Arial"/>
              </a:defRPr>
            </a:pPr>
            <a:r>
              <a:t>Identified Sustainable Development Goals (SDG):</a:t>
            </a:r>
          </a:p>
          <a:p>
            <a:pPr>
              <a:defRPr sz="950">
                <a:solidFill>
                  <a:srgbClr val="282828"/>
                </a:solidFill>
                <a:latin typeface="Arial"/>
              </a:defRPr>
            </a:pPr>
            <a:r>
              <a:t>• SDG 9: Industry, Innovation and Infrastructure (Edge AI for Mobile ISPs)</a:t>
            </a:r>
            <a:br/>
            <a:r>
              <a:t>• SDG 12: Responsible Consumption (Extending smartphone hardware lifespan via AI)</a:t>
            </a:r>
          </a:p>
          <a:p>
            <a:br/>
            <a:pPr>
              <a:defRPr sz="1100" b="1">
                <a:solidFill>
                  <a:srgbClr val="00629B"/>
                </a:solidFill>
                <a:latin typeface="Arial"/>
              </a:defRPr>
            </a:pPr>
            <a:r>
              <a:t>Technology Readiness Level (TRL) &amp; Outcomes:</a:t>
            </a:r>
          </a:p>
          <a:p>
            <a:pPr>
              <a:defRPr sz="950" b="1">
                <a:solidFill>
                  <a:srgbClr val="006432"/>
                </a:solidFill>
                <a:latin typeface="Arial"/>
              </a:defRPr>
            </a:pPr>
            <a:r>
              <a:t>• TRL Level: TRL 7 / 8 (System Prototype in Operational Environment - Live Web Application)</a:t>
            </a:r>
            <a:br/>
            <a:r>
              <a:t>• Outcome Achieved: Full Research Manuscript prepared for Springer Nature (MTAP) / IEEE Access (Turnitin: 13%, Nil% AI)</a:t>
            </a:r>
          </a:p>
        </p:txBody>
      </p:sp>
      <p:pic>
        <p:nvPicPr>
          <p:cNvPr id="8" name="Picture 7" descr="3 The UN 17 Sustainable Development Goals (SDGs), implemented by all... | Download Scientific Diagram">
            <a:extLst>
              <a:ext uri="{FF2B5EF4-FFF2-40B4-BE49-F238E27FC236}">
                <a16:creationId xmlns:a16="http://schemas.microsoft.com/office/drawing/2014/main" xmlns="" id="{36180A9B-AA72-E2D6-8362-4CDF7058D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701" y="4778273"/>
            <a:ext cx="1968651" cy="1578077"/>
          </a:xfrm>
          <a:prstGeom prst="rect">
            <a:avLst/>
          </a:prstGeom>
        </p:spPr>
      </p:pic>
      <p:pic>
        <p:nvPicPr>
          <p:cNvPr id="9" name="Picture 8" descr="What are Technology Readiness Levels (TRL)? - TWI">
            <a:extLst>
              <a:ext uri="{FF2B5EF4-FFF2-40B4-BE49-F238E27FC236}">
                <a16:creationId xmlns:a16="http://schemas.microsoft.com/office/drawing/2014/main" xmlns="" id="{D1491C9C-07B3-89C3-5FA0-72C9F44F3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7545" y="4413148"/>
            <a:ext cx="2447027" cy="2232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62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BFBB131-7217-3694-F593-4021591CC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End-to-End System Architecture Pipeline: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1. Input Capture (y = x + v): Accepts arbitrary resolution RGB smartphone images degraded by Poisson-Gaussian noise.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2. 2D Hann-Window Tiling: Decomposes input into 256×256 patches with 50% overlap (stride 128) and symmetric reflection padding.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3. Stream 1 (Contextual U-Net): Two contracting conv blocks (32/64 filters) with max-pooling, 128-filter bottleneck, expansive decoder with skip connections (captures macro-luminance).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4. Stream 2 (High-Frequency DnCNN): 10 non-pooling convolutional layers with Batch Normalization &amp; ReLU (isolates micro-grain without pooling loss).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5. Cross-Stream Feature Fusion: Concatenates representations (64 channels) followed by a 1×1 convolution with BatchNorm to learn inter-branch non-linear dependencies.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6. Deep Residual Estimation &amp; Subtraction: Estimates 3-channel noise field R_hybrid(y), recovering clean image: x̂ = clip(y - R_hybrid(y), 0, 1).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7. Weighted Overlap-Add Reassembly: Blends predicted patches using 2D separable Hann cosine weights; normalizes by accumulated window weights to guarantee seamless output.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Framework/Architecture/Block Diagram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FE95AF1-B807-AC15-9C1A-B86677AF6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EF324FF-B70A-2FC0-8FD0-C802E31DDB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000">
                <a:solidFill>
                  <a:srgbClr val="1E1E1E"/>
                </a:solidFill>
                <a:latin typeface="Arial"/>
              </a:defRPr>
            </a:pPr>
            <a:r>
              <a:t>• FR1: Multi-Format Image Ingestion &amp; Validation: Support JPEG, JPG, PNG, and WebP up to 25 MB with strict magic-byte validation and anti-path-traversal protection.</a:t>
            </a:r>
          </a:p>
          <a:p>
            <a:pPr>
              <a:defRPr sz="1000">
                <a:solidFill>
                  <a:srgbClr val="1E1E1E"/>
                </a:solidFill>
                <a:latin typeface="Arial"/>
              </a:defRPr>
            </a:pPr>
            <a:r>
              <a:t>• FR2: EXIF Orientation &amp; Dimension Preservation: Automatically correct orientation flags (ImageOps.exif_transpose) and preserve 100% of native pixel dimensions without forced resizing.</a:t>
            </a:r>
          </a:p>
          <a:p>
            <a:pPr>
              <a:defRPr sz="1000">
                <a:solidFill>
                  <a:srgbClr val="1E1E1E"/>
                </a:solidFill>
                <a:latin typeface="Arial"/>
              </a:defRPr>
            </a:pPr>
            <a:r>
              <a:t>• FR3: Asynchronous Deep Learning Execution: Execute model inference in sub-second latency through single-load model caching in GPU/CPU memory (no per-request re-initialization).</a:t>
            </a:r>
          </a:p>
          <a:p>
            <a:pPr>
              <a:defRPr sz="1000">
                <a:solidFill>
                  <a:srgbClr val="1E1E1E"/>
                </a:solidFill>
                <a:latin typeface="Arial"/>
              </a:defRPr>
            </a:pPr>
            <a:r>
              <a:t>• FR4: Memory-Bounded Full-Resolution Tiling: Support multi-megapixel smartphone captures (12+ to 48 MP) via 2D Hann-window overlapping tiling with a constant memory footprint under 620 MB.</a:t>
            </a:r>
          </a:p>
          <a:p>
            <a:pPr>
              <a:defRPr sz="1000">
                <a:solidFill>
                  <a:srgbClr val="1E1E1E"/>
                </a:solidFill>
                <a:latin typeface="Arial"/>
              </a:defRPr>
            </a:pPr>
            <a:r>
              <a:t>• FR5: Interactive Before/After Split Inspection: Provide a touch/pointer-enabled interactive comparison slider with a side-by-side inspection toggle for instant visual verification.</a:t>
            </a:r>
          </a:p>
          <a:p>
            <a:pPr>
              <a:defRPr sz="1000">
                <a:solidFill>
                  <a:srgbClr val="1E1E1E"/>
                </a:solidFill>
                <a:latin typeface="Arial"/>
              </a:defRPr>
            </a:pPr>
            <a:r>
              <a:t>• FR6: Real-Time Quality Metrics &amp; Noise Variance: Display measured processing latency (ms), ground-truth PSNR/SSIM, and Immerkaer Laplacian blind noise standard deviation estimation (σ̂).</a:t>
            </a:r>
          </a:p>
          <a:p>
            <a:pPr>
              <a:defRPr sz="1000">
                <a:solidFill>
                  <a:srgbClr val="1E1E1E"/>
                </a:solidFill>
                <a:latin typeface="Arial"/>
              </a:defRPr>
            </a:pPr>
            <a:r>
              <a:t>• FR7: Secure Export &amp; In-Memory Privacy: Stream processed images directly to the client via Base64/Blob data URIs with zero permanent server-side file retention.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0C9A0194-5820-F292-3A94-449C000E51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D4F25267-3005-EC45-A624-B78484DF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10022FF-AD0C-E15E-5F17-B2827B554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D8D6198-8B2C-26FB-53D2-A5B87C95A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299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D42F2ED-50F9-3DFA-95BB-1A1059C5D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93F2560-A5FE-A724-8F39-E7E901E8F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200" b="1">
                <a:solidFill>
                  <a:srgbClr val="00629B"/>
                </a:solidFill>
                <a:latin typeface="Arial"/>
              </a:defRPr>
            </a:pPr>
            <a:r>
              <a:t>Module 1: Preprocessing &amp; Ingestion Engine: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Performs secure image decoding, EXIF orientation correction, float32 normalization to [0, 1], and boundary reflection padding.</a:t>
            </a:r>
            <a:br/>
          </a:p>
          <a:p>
            <a:pPr>
              <a:defRPr sz="1200" b="1">
                <a:solidFill>
                  <a:srgbClr val="00629B"/>
                </a:solidFill>
                <a:latin typeface="Arial"/>
              </a:defRPr>
            </a:pPr>
            <a:r>
              <a:t>Module 2: Hybrid U-Net–DnCNN Deep Learning Core: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Implements the dual-stream feature extraction network in TensorFlow/Keras, combining contracting-expansive U-Net with non-pooling residual DnCNN and 1×1 fusion.</a:t>
            </a:r>
            <a:br/>
          </a:p>
          <a:p>
            <a:pPr>
              <a:defRPr sz="1200" b="1">
                <a:solidFill>
                  <a:srgbClr val="00629B"/>
                </a:solidFill>
                <a:latin typeface="Arial"/>
              </a:defRPr>
            </a:pPr>
            <a:r>
              <a:t>Module 3: 2D Hann-Window Tiling &amp; Blending Engine: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Executes 256×256 patch extraction at 50% stride (S=128), batched neural forward passes, and weighted overlap-add synthesis satisfying partition of unity.</a:t>
            </a:r>
            <a:br/>
          </a:p>
          <a:p>
            <a:pPr>
              <a:defRPr sz="1200" b="1">
                <a:solidFill>
                  <a:srgbClr val="00629B"/>
                </a:solidFill>
                <a:latin typeface="Arial"/>
              </a:defRPr>
            </a:pPr>
            <a:r>
              <a:t>Module 4: Asynchronous REST Microservice (FastAPI):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Provides high-throughput endpoints (POST /api/denoise, GET /api/health, GET /api/model-info) with single-load model lifespan and memory-safe streaming.</a:t>
            </a:r>
            <a:br/>
          </a:p>
          <a:p>
            <a:pPr>
              <a:defRPr sz="1200" b="1">
                <a:solidFill>
                  <a:srgbClr val="00629B"/>
                </a:solidFill>
                <a:latin typeface="Arial"/>
              </a:defRPr>
            </a:pPr>
            <a:r>
              <a:t>Module 5: Interactive Glassmorphic Web UI &amp; 3D WebGL Visualizer: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Built with React 18, TypeScript, and Tailwind CSS v4, featuring Dark/Light mode, before/after split sliders, and a Three.js 3D photodiode sensor simulation.</a:t>
            </a:r>
            <a:br/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B27DA514-48FC-4BF4-8205-DE21D456C5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D74A04E0-6631-130F-A154-C85D978EA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9615995-EDEB-C984-B852-1229C23B1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67F5109-389C-3E37-E553-A559233EF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98703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21556E8-0003-02C5-D37D-A5CC4CE4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FB67973-736B-B05D-D378-DA7CBE3EB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100" b="1">
                <a:solidFill>
                  <a:srgbClr val="00629B"/>
                </a:solidFill>
                <a:latin typeface="Arial"/>
              </a:defRPr>
            </a:pPr>
            <a:r>
              <a:t>Quantitative Restoration Benchmarks on Smartphone Dataset (1404×2040 native resolution):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01168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352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Architecture / Model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Receptive Field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Mean PSNR (dB)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Mean SSIM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Noisy Baseline Input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24.04 ± 0.42 dB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0.7005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Baseline 3-Layer 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40,451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7 ×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26.87 ± 0.31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0.8441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Standard DnCNN (10 Layers)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332,675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21 × 21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27.42 ± 0.28 dB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0.8650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Standard U-Net (3 Levels)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488,323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Multi-Scale (~68px)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27.95 ± 0.25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0.8710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629B"/>
                          </a:solidFill>
                          <a:latin typeface="Arial"/>
                        </a:defRPr>
                      </a:pPr>
                      <a:r>
                        <a:t>Proposed Hybrid U-Net–DnCNN</a:t>
                      </a:r>
                    </a:p>
                  </a:txBody>
                  <a:tcPr>
                    <a:solidFill>
                      <a:srgbClr val="E6F5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629B"/>
                          </a:solidFill>
                          <a:latin typeface="Arial"/>
                        </a:defRPr>
                      </a:pPr>
                      <a:r>
                        <a:t>350,947</a:t>
                      </a:r>
                    </a:p>
                  </a:txBody>
                  <a:tcPr>
                    <a:solidFill>
                      <a:srgbClr val="E6F5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629B"/>
                          </a:solidFill>
                          <a:latin typeface="Arial"/>
                        </a:defRPr>
                      </a:pPr>
                      <a:r>
                        <a:t>Dual-Scale (Global+Local)</a:t>
                      </a:r>
                    </a:p>
                  </a:txBody>
                  <a:tcPr>
                    <a:solidFill>
                      <a:srgbClr val="E6F5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629B"/>
                          </a:solidFill>
                          <a:latin typeface="Arial"/>
                        </a:defRPr>
                      </a:pPr>
                      <a:r>
                        <a:t>28.60 ± 0.22 dB</a:t>
                      </a:r>
                    </a:p>
                  </a:txBody>
                  <a:tcPr>
                    <a:solidFill>
                      <a:srgbClr val="E6F5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629B"/>
                          </a:solidFill>
                          <a:latin typeface="Arial"/>
                        </a:defRPr>
                      </a:pPr>
                      <a:r>
                        <a:t>0.8920</a:t>
                      </a:r>
                    </a:p>
                  </a:txBody>
                  <a:tcPr>
                    <a:solidFill>
                      <a:srgbClr val="E6F5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29B"/>
                </a:solidFill>
                <a:latin typeface="Arial"/>
              </a:defRPr>
            </a:pPr>
            <a:r>
              <a:t>Key Experimental Findings: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Restoration Gain: Proposed Hybrid model achieves +4.56 dB PSNR and +0.1915 SSIM over raw capture, outperforming U-Net by +0.65 dB and DnCNN by +1.18 dB (Wilcoxon signed-rank test p &lt; 0.001).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Ablation Proof: Removing DnCNN drops SSIM by 0.0210 (texture blurring); removing U-Net drops PSNR by 1.18 dB (chroma blotches). 1×1 cross-channel fusion adds +0.42 dB over simple concatenation.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Tiling Seam Elimination: Naive tiling causes severe boundary grid lines (Mean Boundary Discontinuity MBGD = 0.0842), whereas 2D Hann-window tiling suppresses seams to an imperceptible MBGD = 0.0012 within 620 MB VRAM.</a:t>
            </a:r>
          </a:p>
        </p:txBody>
      </p:sp>
    </p:spTree>
    <p:extLst>
      <p:ext uri="{BB962C8B-B14F-4D97-AF65-F5344CB8AC3E}">
        <p14:creationId xmlns:p14="http://schemas.microsoft.com/office/powerpoint/2010/main" val="3666188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CC49A39-F362-DB35-B5DF-7E322AB9C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04F33DD-84F0-A7F9-A1DC-A4DEA1A7D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Conclusion: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• Developed NeuroClean, a dual-stream Hybrid U-Net–DnCNN neural network that simultaneously resolves large-scale luminance mottling and isolates fine stochastic sensor grain in smartphone photography.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• Formulated deep residual noise learning, establishing superior convergence stability and structural edge preservation compared to direct clean image synthesis.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• Engineered a 2D Hann-window overlapping cosine tiling engine with partition of unity, completely eliminating boundary seam discontinuities while preserving 100% of native image dimensions.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• Validated statistically significant improvements across paired smartphone captures (28.60+ dB PSNR, 0.8920+ SSIM, p &lt; 0.001) and delivered an open-source, full-stack cloud web studio.</a:t>
            </a:r>
          </a:p>
          <a:p>
            <a:br/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Future Work &amp; Roadmap: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• 1. RAW Bayer-Pattern Sensor Denoising: Extend the hybrid model to raw sensor data prior to ISP demosaicing and non-linear tone-curve mapping.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• 2. Temporal Multi-Frame Video Fusion: Incorporate temporal recurrent connections for low-light smartphone video restoration.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• 3. Hardware Quantization: Quantize the network to 8-bit integer (INT8) precision using TensorRT and CoreML for on-device mobile NPU deployment.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3754A46F-4AC3-5AF1-0B78-C0B5112BD1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and Future Work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851BAA61-633E-E24B-7DEE-4B2A2B1FA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B93C553-2D0C-5A0A-39DC-21C43BD88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BF7A7E9-45BE-62F4-D3A6-F19DC6ABE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7498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1EE89F-6F96-DF9C-768A-8B2A7BEAD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Outcome Achieved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65DBCB3-75D0-D33A-66EA-4DDA4A022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1. Research Journal Publication (Prepared &amp; Submitted):</a:t>
            </a:r>
          </a:p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• Manuscript Title: "NeuroClean: High-Fidelity Smartphone Image Denoising via Hybrid U-Net–DnCNN Dual-Stream Deep Learning and Overlapping Hann-Window Tiling"</a:t>
            </a:r>
            <a:br/>
            <a:r>
              <a:t>• Target Journal: Multimedia Tools and Applications (Springer Nature) / IEEE Access</a:t>
            </a:r>
            <a:br/>
            <a:r>
              <a:t>• Plagiarism &amp; AI Verification: Turnitin Plagiarism: 13%   |   Turnitin AI Score: Nil %</a:t>
            </a:r>
            <a:br/>
            <a:r>
              <a:t>• Authors: Majji Naveen, Parri Hari Chandan, M. Siva Charan Reddy, under the Supervision of Dr. Jayalakshmi M</a:t>
            </a:r>
          </a:p>
          <a:p>
            <a:br/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2. Live Production Cloud Deployment:</a:t>
            </a:r>
          </a:p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• Live Public URL: https://majjinaveen46.github.io/Image-Denoising-Smartphone/</a:t>
            </a:r>
            <a:br/>
            <a:r>
              <a:t>• Deployed with FastAPI asynchronous backend, React glassmorphic UI, live noise metrics, and 3D WebGL sensor visualizer.</a:t>
            </a:r>
          </a:p>
          <a:p>
            <a:br/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3. Open-Source Codebase &amp; Artifacts:</a:t>
            </a:r>
          </a:p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• GitHub Repository: https://github.com/majjinaveen46/Image-Denoising-Smartphone</a:t>
            </a:r>
            <a:br/>
            <a:r>
              <a:t>• Includes model weights, Hann-window tiling pipeline, automated test suite, Docker container, and documentation.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F86E621-0A63-DDD2-60A0-511D9D7C8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4966F66-9685-CC43-3B74-035A03CAF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2234F7B-54B7-5C34-9356-A94BE39E2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15707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F70E1A0-FA4A-8258-6E10-9F00EDC0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7CFC0C65-61CC-E657-43F7-99C8E53624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xmlns="" id="{CC4F09CD-956A-B8B3-1183-9C28C80DDB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801600" y="1442399"/>
            <a:ext cx="91440" cy="91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732D3DB-7149-E1E5-D5F9-4FC93A788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7B6C-E68D-4047-8A1E-3C7BD2842AF7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CEBCABB1-7C63-52E3-2815-3651AE7E9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431EAEC-BCE3-2979-69C6-273309B9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14</a:t>
            </a:fld>
            <a:endParaRPr lang="en-IN"/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530352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[1] </a:t>
            </a:r>
            <a:r>
              <a:rPr sz="800">
                <a:solidFill>
                  <a:srgbClr val="282828"/>
                </a:solidFill>
                <a:latin typeface="Arial"/>
              </a:rPr>
              <a:t>A. Dudhane, S. W. Zamir, S. Khan, and F. S. Khan, "Burst Image Restoration and Enhancement," in Proc. CVPR / arXiv:2110.03680, 2022. </a:t>
            </a:r>
            <a:r>
              <a:rPr sz="800" b="1" u="sng">
                <a:solidFill>
                  <a:srgbClr val="0066CC"/>
                </a:solidFill>
                <a:latin typeface="Arial"/>
                <a:hlinkClick r:id="rId2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[2] </a:t>
            </a:r>
            <a:r>
              <a:rPr sz="800">
                <a:solidFill>
                  <a:srgbClr val="282828"/>
                </a:solidFill>
                <a:latin typeface="Arial"/>
              </a:rPr>
              <a:t>R. Flepp, A. Ignatov, R. Timofte, and L. Van Gool, "Real-World Mobile Image Denoising Dataset with Efficient Baselines," in Proc. IEEE/CVF CVPR, pp. 2596–2606, 2024. </a:t>
            </a:r>
            <a:r>
              <a:rPr sz="800" b="1" u="sng">
                <a:solidFill>
                  <a:srgbClr val="0066CC"/>
                </a:solidFill>
                <a:latin typeface="Arial"/>
                <a:hlinkClick r:id="rId3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[3] </a:t>
            </a:r>
            <a:r>
              <a:rPr sz="800">
                <a:solidFill>
                  <a:srgbClr val="282828"/>
                </a:solidFill>
                <a:latin typeface="Arial"/>
              </a:rPr>
              <a:t>S. Guo, "Toward effective image restoration from raw domain," Ph.D. Dissertation, Dept. of Computing, The Hong Kong Polytechnic University, 2024. </a:t>
            </a:r>
            <a:r>
              <a:rPr sz="800" b="1" u="sng">
                <a:solidFill>
                  <a:srgbClr val="0066CC"/>
                </a:solidFill>
                <a:latin typeface="Arial"/>
                <a:hlinkClick r:id="rId4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[4] </a:t>
            </a:r>
            <a:r>
              <a:rPr sz="800">
                <a:solidFill>
                  <a:srgbClr val="282828"/>
                </a:solidFill>
                <a:latin typeface="Arial"/>
              </a:rPr>
              <a:t>Z. Li, H. Liu, L. Cheng, and X. Jia, "Image Denoising Algorithm Based on Gradient Domain Guided Filtering and NSST," IEEE Access, vol. 11, pp. 11923–11933, 2023. </a:t>
            </a:r>
            <a:r>
              <a:rPr sz="800" b="1" u="sng">
                <a:solidFill>
                  <a:srgbClr val="0066CC"/>
                </a:solidFill>
                <a:latin typeface="Arial"/>
                <a:hlinkClick r:id="rId5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[5] </a:t>
            </a:r>
            <a:r>
              <a:rPr sz="800">
                <a:solidFill>
                  <a:srgbClr val="282828"/>
                </a:solidFill>
                <a:latin typeface="Arial"/>
              </a:rPr>
              <a:t>L. Kumari, N. Mittal, and M. Modi, "Comparative Analysis of Noise Reduction Filters for Medical Images," ResearchGate / Signal &amp; Image Processing, 2024. </a:t>
            </a:r>
            <a:r>
              <a:rPr sz="800" b="1" u="sng">
                <a:solidFill>
                  <a:srgbClr val="0066CC"/>
                </a:solidFill>
                <a:latin typeface="Arial"/>
                <a:hlinkClick r:id="rId6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[6] </a:t>
            </a:r>
            <a:r>
              <a:rPr sz="800">
                <a:solidFill>
                  <a:srgbClr val="282828"/>
                </a:solidFill>
                <a:latin typeface="Arial"/>
              </a:rPr>
              <a:t>J. Lee, "Development of Alternative Filters to Enhance the Quality of Digital Images," ResearchGate / Digital Imaging Systems, 2024. </a:t>
            </a:r>
            <a:r>
              <a:rPr sz="800" b="1" u="sng">
                <a:solidFill>
                  <a:srgbClr val="0066CC"/>
                </a:solidFill>
                <a:latin typeface="Arial"/>
                <a:hlinkClick r:id="rId7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[7] </a:t>
            </a:r>
            <a:r>
              <a:rPr sz="800">
                <a:solidFill>
                  <a:srgbClr val="282828"/>
                </a:solidFill>
                <a:latin typeface="Arial"/>
              </a:rPr>
              <a:t>R. S. Jebur, M. H. Bin Mohamed Zabil, D. A. Hammood, and L. K. Cheng, "A comprehensive review of image denoising in deep learning," Multimedia Tools and Applications, Springer, 2023. </a:t>
            </a:r>
            <a:r>
              <a:rPr sz="800" b="1" u="sng">
                <a:solidFill>
                  <a:srgbClr val="0066CC"/>
                </a:solidFill>
                <a:latin typeface="Arial"/>
                <a:hlinkClick r:id="rId8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[8] </a:t>
            </a:r>
            <a:r>
              <a:rPr sz="800">
                <a:solidFill>
                  <a:srgbClr val="282828"/>
                </a:solidFill>
                <a:latin typeface="Arial"/>
              </a:rPr>
              <a:t>S. Mittal et al., "LIVENet: A Novel Network for Real-World Low-Light Image Denoising and Enhancement," in Proc. IEEE/CVF WACV, pp. 2960–2970, 2024. </a:t>
            </a:r>
            <a:r>
              <a:rPr sz="800" b="1" u="sng">
                <a:solidFill>
                  <a:srgbClr val="0066CC"/>
                </a:solidFill>
                <a:latin typeface="Arial"/>
                <a:hlinkClick r:id="rId9"/>
              </a:rPr>
              <a:t>[Link]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325880"/>
            <a:ext cx="530352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[9] </a:t>
            </a:r>
            <a:r>
              <a:rPr sz="800">
                <a:solidFill>
                  <a:srgbClr val="282828"/>
                </a:solidFill>
                <a:latin typeface="Arial"/>
              </a:rPr>
              <a:t>Z. Zhou, Y. Chen, and Y. Zhou, "Deep Dynamic Memory Augmented Attentional Dictionary Learning for Image Denoising," IEEE Trans. Circuits Syst. Video Technol., vol. 33, no. 9, pp. 4668–4682, 2023. </a:t>
            </a:r>
            <a:r>
              <a:rPr sz="800" b="1" u="sng">
                <a:solidFill>
                  <a:srgbClr val="0066CC"/>
                </a:solidFill>
                <a:latin typeface="Arial"/>
                <a:hlinkClick r:id="rId10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[10] </a:t>
            </a:r>
            <a:r>
              <a:rPr sz="800">
                <a:solidFill>
                  <a:srgbClr val="282828"/>
                </a:solidFill>
                <a:latin typeface="Arial"/>
              </a:rPr>
              <a:t>O. Gupta, I. N. Kalapala, and K. M. Bhurchandi, "Enhancing Image Denoising Performance through a Family of Algorithms," in Proc. IEEE ISCON, pp. 1–6, 2023. </a:t>
            </a:r>
            <a:r>
              <a:rPr sz="800" b="1" u="sng">
                <a:solidFill>
                  <a:srgbClr val="0066CC"/>
                </a:solidFill>
                <a:latin typeface="Arial"/>
                <a:hlinkClick r:id="rId11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[11] </a:t>
            </a:r>
            <a:r>
              <a:rPr sz="800">
                <a:solidFill>
                  <a:srgbClr val="282828"/>
                </a:solidFill>
                <a:latin typeface="Arial"/>
              </a:rPr>
              <a:t>L. Zhou, D. Zhou, H. Yang, S. Yang, and L. Nie, "Multi-scale network toward real-world image denoising," Int. J. Machine Learning &amp; Cybernetics, Springer, vol. 14, pp. 1109–1123, 2023. </a:t>
            </a:r>
            <a:r>
              <a:rPr sz="800" b="1" u="sng">
                <a:solidFill>
                  <a:srgbClr val="0066CC"/>
                </a:solidFill>
                <a:latin typeface="Arial"/>
                <a:hlinkClick r:id="rId12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[12] </a:t>
            </a:r>
            <a:r>
              <a:rPr sz="800">
                <a:solidFill>
                  <a:srgbClr val="282828"/>
                </a:solidFill>
                <a:latin typeface="Arial"/>
              </a:rPr>
              <a:t>A. Ulu, G. Yildiz, and B. Dizdaroğlu, "MLFAN: Multilevel Feature Attention Network With Texture Prior for Image Denoising," IEEE Access, vol. 11, pp. 35647–35661, 2023. </a:t>
            </a:r>
            <a:r>
              <a:rPr sz="800" b="1" u="sng">
                <a:solidFill>
                  <a:srgbClr val="0066CC"/>
                </a:solidFill>
                <a:latin typeface="Arial"/>
                <a:hlinkClick r:id="rId13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[13] </a:t>
            </a:r>
            <a:r>
              <a:rPr sz="800">
                <a:solidFill>
                  <a:srgbClr val="282828"/>
                </a:solidFill>
                <a:latin typeface="Arial"/>
              </a:rPr>
              <a:t>G. Zhang, G. Zhang, Q. Lu, Y. Bo, and X. Zhou, "Application of Improved Canny Algorithm in Image Edge Detection of Transmission Lines," in Proc. IEEE ICICML, pp. 312–316, 2024. </a:t>
            </a:r>
            <a:r>
              <a:rPr sz="800" b="1" u="sng">
                <a:solidFill>
                  <a:srgbClr val="0066CC"/>
                </a:solidFill>
                <a:latin typeface="Arial"/>
                <a:hlinkClick r:id="rId14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[14] </a:t>
            </a:r>
            <a:r>
              <a:rPr sz="800">
                <a:solidFill>
                  <a:srgbClr val="282828"/>
                </a:solidFill>
                <a:latin typeface="Arial"/>
              </a:rPr>
              <a:t>A. Ranganath, F. Santiago, O. DeGuchy, M. Singhal, and R. F. Marcia, "Recurrent Neural Imaging: An Evolutionary Approach for Mixed Poisson-Gaussian Image Denoising," in Proc. IEEE DISCOVERY, pp. 1–6, 2023. </a:t>
            </a:r>
            <a:r>
              <a:rPr sz="800" b="1" u="sng">
                <a:solidFill>
                  <a:srgbClr val="0066CC"/>
                </a:solidFill>
                <a:latin typeface="Arial"/>
                <a:hlinkClick r:id="rId15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[15] </a:t>
            </a:r>
            <a:r>
              <a:rPr sz="800">
                <a:solidFill>
                  <a:srgbClr val="282828"/>
                </a:solidFill>
                <a:latin typeface="Arial"/>
              </a:rPr>
              <a:t>T. Direk, "Image denoising by linear regression on non-local means algorithm," Signal, Image and Video Processing, Springer, vol. 18, pp. 3185–3194, 2024. </a:t>
            </a:r>
            <a:r>
              <a:rPr sz="800" b="1" u="sng">
                <a:solidFill>
                  <a:srgbClr val="0066CC"/>
                </a:solidFill>
                <a:latin typeface="Arial"/>
                <a:hlinkClick r:id="rId16"/>
              </a:rPr>
              <a:t>[Link]</a:t>
            </a:r>
          </a:p>
        </p:txBody>
      </p:sp>
    </p:spTree>
    <p:extLst>
      <p:ext uri="{BB962C8B-B14F-4D97-AF65-F5344CB8AC3E}">
        <p14:creationId xmlns:p14="http://schemas.microsoft.com/office/powerpoint/2010/main" val="3510526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376</Words>
  <Application>Microsoft Macintosh PowerPoint</Application>
  <PresentationFormat>Custom</PresentationFormat>
  <Paragraphs>98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&lt;&lt;Programme B.Tech/ M.Tech Course Code – Course Title&gt;&gt; &lt;&lt;Project Title&gt;&gt;</vt:lpstr>
      <vt:lpstr>Approval Mail From Guide</vt:lpstr>
      <vt:lpstr>Aim</vt:lpstr>
      <vt:lpstr>Abstract</vt:lpstr>
      <vt:lpstr>Literature Review</vt:lpstr>
      <vt:lpstr>Research Gap</vt:lpstr>
      <vt:lpstr>Objectives</vt:lpstr>
      <vt:lpstr>Framework/Architecture/Block Diagram</vt:lpstr>
      <vt:lpstr>Functional Requirements</vt:lpstr>
      <vt:lpstr>Modules</vt:lpstr>
      <vt:lpstr>Experiments and Results</vt:lpstr>
      <vt:lpstr>Conclusion and Future Work</vt:lpstr>
      <vt:lpstr>Outcome Achieved</vt:lpstr>
      <vt:lpstr>References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&lt;&lt;Programme B.Tech/ M.Tech Course Code – Course Title&gt;&gt; &lt;&lt;Project Title&gt;&gt;</dc:title>
  <dc:creator>Parthasarathy G</dc:creator>
  <cp:lastModifiedBy>Prakash Mohan</cp:lastModifiedBy>
  <cp:revision>12</cp:revision>
  <dcterms:created xsi:type="dcterms:W3CDTF">2026-07-14T06:00:41Z</dcterms:created>
  <dcterms:modified xsi:type="dcterms:W3CDTF">2026-10-05T06:25:49Z</dcterms:modified>
</cp:coreProperties>
</file>