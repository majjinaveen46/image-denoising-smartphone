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rxiv.org/abs/2110.03680" TargetMode="External"/><Relationship Id="rId3" Type="http://schemas.openxmlformats.org/officeDocument/2006/relationships/hyperlink" Target="https://paperswithcode.com/paper/real-world-mobile-image-denoising-dataset" TargetMode="External"/><Relationship Id="rId4" Type="http://schemas.openxmlformats.org/officeDocument/2006/relationships/hyperlink" Target="https://theses.lib.polyu.edu.hk/handle/200/12922" TargetMode="External"/><Relationship Id="rId5" Type="http://schemas.openxmlformats.org/officeDocument/2006/relationships/hyperlink" Target="https://ieeexplore.ieee.org/document/10035968" TargetMode="External"/><Relationship Id="rId6" Type="http://schemas.openxmlformats.org/officeDocument/2006/relationships/hyperlink" Target="https://www.researchgate.net/publication/379162688_Comparative_Analysis_of_Noise_Reduction_Filters_for_Medical_Images" TargetMode="External"/><Relationship Id="rId7" Type="http://schemas.openxmlformats.org/officeDocument/2006/relationships/hyperlink" Target="https://www.researchgate.net/publication/379091587_Development_of_Alternative_Filters_to_Enhance_the_Quality_of_Digital_Images" TargetMode="External"/><Relationship Id="rId8" Type="http://schemas.openxmlformats.org/officeDocument/2006/relationships/hyperlink" Target="https://link.springer.com/article/10.1007/s11042-023-17468-2" TargetMode="External"/><Relationship Id="rId9" Type="http://schemas.openxmlformats.org/officeDocument/2006/relationships/hyperlink" Target="https://ieeexplore.ieee.org/document/10483686" TargetMode="External"/><Relationship Id="rId10" Type="http://schemas.openxmlformats.org/officeDocument/2006/relationships/hyperlink" Target="https://ieeexplore.ieee.org/abstract/document/10054440" TargetMode="External"/><Relationship Id="rId11" Type="http://schemas.openxmlformats.org/officeDocument/2006/relationships/hyperlink" Target="https://ieeexplore.ieee.org/abstract/document/10136117" TargetMode="External"/><Relationship Id="rId12" Type="http://schemas.openxmlformats.org/officeDocument/2006/relationships/hyperlink" Target="https://link.springer.com/article/10.1007/s13042-022-01694-5" TargetMode="External"/><Relationship Id="rId13" Type="http://schemas.openxmlformats.org/officeDocument/2006/relationships/hyperlink" Target="https://ieeexplore.ieee.org/abstract/document/10092851" TargetMode="External"/><Relationship Id="rId14" Type="http://schemas.openxmlformats.org/officeDocument/2006/relationships/hyperlink" Target="https://ieeexplore.ieee.org/abstract/document/10424911" TargetMode="External"/><Relationship Id="rId15" Type="http://schemas.openxmlformats.org/officeDocument/2006/relationships/hyperlink" Target="https://ieeexplore.ieee.org/abstract/document/10069162/" TargetMode="External"/><Relationship Id="rId16" Type="http://schemas.openxmlformats.org/officeDocument/2006/relationships/hyperlink" Target="https://link.springer.com/article/10.1007/s11760-024-03086-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500" b="1">
                <a:solidFill>
                  <a:srgbClr val="00629B"/>
                </a:solidFill>
                <a:latin typeface="Arial"/>
              </a:defRPr>
            </a:pPr>
            <a:r>
              <a:t>B.Tech Computer Science and Engineering • Project Review 3</a:t>
            </a:r>
          </a:p>
          <a:p>
            <a:pPr algn="ctr">
              <a:defRPr sz="2200" b="1">
                <a:solidFill>
                  <a:srgbClr val="142850"/>
                </a:solidFill>
                <a:latin typeface="Arial"/>
              </a:defRPr>
            </a:pPr>
            <a:r>
              <a:t>Image Denoising Using Machine Learning for Smartphone Images</a:t>
            </a:r>
          </a:p>
          <a:p>
            <a:pPr algn="ctr">
              <a:defRPr sz="1300" i="1">
                <a:solidFill>
                  <a:srgbClr val="646464"/>
                </a:solidFill>
                <a:latin typeface="Arial"/>
              </a:defRPr>
            </a:pPr>
            <a:r>
              <a:t>(NeuroClean: Hybrid U-Net–DnCNN Dual-Stream Deep Learning Framework)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defRPr sz="1300" b="1">
                <a:solidFill>
                  <a:srgbClr val="00629B"/>
                </a:solidFill>
                <a:latin typeface="Arial"/>
              </a:defRPr>
            </a:pPr>
            <a: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MAJJI NAVEEN               (23BCI0131)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PARRI HARI CHANDAN         (23BCT0153)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M. SIVA CHARAN REDDY       (23BDS0156)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Faculty Guide / Supervisor: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Dr. JAYALAKSHMI M (Associate Professor, SCOPE)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500" b="1">
                <a:solidFill>
                  <a:srgbClr val="00629B"/>
                </a:solidFill>
                <a:latin typeface="Arial"/>
              </a:defRPr>
            </a:pPr>
            <a:r>
              <a:t>Project Review Approval Status:</a:t>
            </a:r>
          </a:p>
          <a:p>
            <a:pPr>
              <a:defRPr sz="1200" b="1">
                <a:solidFill>
                  <a:srgbClr val="282828"/>
                </a:solidFill>
                <a:latin typeface="Arial"/>
              </a:defRPr>
            </a:pPr>
            <a:r>
              <a:t>• Project ID: 11790UG05   |   Semester: Fall Semester   |   Review: Project Review 3</a:t>
            </a:r>
            <a:br/>
          </a:p>
          <a:p>
            <a:pPr>
              <a:defRPr sz="1250" b="1">
                <a:solidFill>
                  <a:srgbClr val="00629B"/>
                </a:solidFill>
                <a:latin typeface="Arial"/>
              </a:defRPr>
            </a:pPr>
            <a:r>
              <a:t>Guide Approval Confirmation (Sample Record):</a:t>
            </a:r>
          </a:p>
          <a:p>
            <a:pPr>
              <a:defRPr sz="1300" b="1" i="1">
                <a:solidFill>
                  <a:srgbClr val="145014"/>
                </a:solidFill>
                <a:latin typeface="Arial"/>
              </a:defRPr>
            </a:pPr>
            <a:r>
              <a:t>"The Fall Semester Project Review 3 for Project ID 11790UG05 has been approved."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Meeting with Guide Frequently:  Satisfied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PowerPoint Presentation:  Approved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Project Demonstration:  Approved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Final Project Report:  Satisfied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Project Outcome:  Completed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Turnitin Plagiarism Percentage:  13%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Turnitin AI Score:  Nil % (Requirement: &lt;= 25%)</a:t>
            </a:r>
          </a:p>
          <a:p>
            <a:br/>
            <a:pPr>
              <a:defRPr sz="1150" i="1">
                <a:solidFill>
                  <a:srgbClr val="464646"/>
                </a:solidFill>
                <a:latin typeface="Arial"/>
              </a:defRPr>
            </a:pPr>
            <a:r>
              <a:t>All the above aspects are addressed, implemented, and updated by the project team.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0053" y="2703606"/>
            <a:ext cx="8942979" cy="267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400" b="1">
                <a:solidFill>
                  <a:srgbClr val="00629B"/>
                </a:solidFill>
                <a:latin typeface="Arial"/>
              </a:defRPr>
            </a:pPr>
            <a:r>
              <a:t>Primary Aim: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To design, develop, and deploy a robust deep-learning-based computational photography system (NeuroClean) that effectively removes stochastic Poisson photon shot noise, amplifier read noise, and chromatic grain from high-ISO and low-light smartphone photographs, while rigorously preserving 100% of native image dimensions, aspect ratios, and fine textural fidelity.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Key Sub-Aims: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Dual-Stream Neural Modeling: Formulate a hybrid U-Net–DnCNN architecture to extract macro contextual illumination while preserving micro-scale spatial edge details.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Deep Residual Subtraction: Train the model to isolate the underlying noise field R(y) rather than direct clean image generation: x̂ = clip(y - R_hybrid(y), 0, 1).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Artifact-Free Full-Resolution Tiling: Implement a 2D Hann-window overlapping cosine tiling engine with exact partition of unity to eliminate border stitching seams and GPU memory faults.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End-to-End Web-Based Deployment: Deploy an asynchronous FastAPI microservice paired with a responsive React/TypeScript studio featuring real-time before/after split sliders and Three.js 3D sensor simulation.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Problem Statement &amp; Context: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Smartphone camera sensors are physically restricted by sub-micron to micron pixel pitches (1.0–1.4 μm) and micro-apertures. Under low-light settings, severe Poisson photon shot noise and chromatic mottling degrade image fidelity. Standard multi-scale autoencoders (U-Net) oversmooth high-frequency textures through spatial pooling, whereas feed-forward networks (DnCNN) have strictly limited receptive fields (21×21 pixels), failing to remove wide-area chroma blotches.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Proposed Hybrid Methodology &amp; Tiling Engine: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We propose NeuroClean, introducing a dual-stream Hybrid U-Net–DnCNN architecture that combines multi-scale context flow with non-pooling residual grain modeling joined by 1×1 cross-channel fusion. To process arbitrary megapixel photographs without memory bloat or boundary seams, we engineer a 2D Hann-window overlapping cosine tiling engine satisfying the mathematical partition of unity (Σ w = 1.0).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Key Results &amp; Outcomes: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Evaluated on paired real-world smartphone photographs (1404×2040 native resolution), our model achieves 28.60+ dB PSNR and 0.8920+ SSIM (+4.56 dB and +0.1915 over raw noisy baseline, p &lt; 0.001). The system is deployed online via an asynchronous FastAPI backend and React glassmorphic UI, with a full-length manuscript prepared for Springer Nature (MTAP).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xmlns="" id="{89F3C486-F1E8-5229-C983-C5D8372F1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4647" y="1374470"/>
            <a:ext cx="10169009" cy="2054530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05/10/26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/ Author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Pros / Cons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/ Limitations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BM3D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(Dabov et al., 2007)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Image denoising using transform domain sparsity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Block-matching and 3D collaborative Wiener filtering in transform domain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Strong benchmark on Gaussian noise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O(N²) search complexity, blurs real camera grain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Introduces watercolor-like smearing on real smartphone noise patterns.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DnCNN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(Zhang et al., 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Deep CNN for residual noise estimation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17-20 convolutional layers with Batch Normalization &amp; ReLU operating at full resolution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Fast convergence, preserves fine grain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Receptive field strictly limited to 21×21 pixels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Cannot resolve wide-area chroma blotches due to depth-bounded receptive field.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U-Net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(Ronneberger et al., 2015)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Contextual feature preservation for image restoration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Contracting-expansive encoder-decoder with pooling and long skip connections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Captures global context and luminance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Spatial pooling destroys micro-textures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Causes edge softening and phase artifacts upon bilinear/transposed upsampling.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CBDNet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(Guo et al., 2019)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Blind denoising for real camera photographs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Noise estimation subnetwork coupled with asymmetric loss and U-Net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Realistic noise modeling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High compute cost, complex multi-network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Effective on synthetic-real blend, but heavy latency for interactive web inference.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Restormer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(Zamir et al., 2022)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Transformer-based high-resolution restoration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Multi-Dconv head transposed attention with gated feed-forward networks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High benchmark scores on crop datasets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Prohibitive compute requirements for edge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Too memory-intensive for direct full-resolution processing on mobile/standard GPUs.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1: The Context vs. Texture Grain Dilemma: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Existing deep restoration networks force a compromise: deep feed-forward models (DnCNN) maintain native resolution and capture fine pixel grain but have a mathematically bounded receptive field (21×21 pixels), making them blind to wide-area chroma mottling. Conversely, multi-scale encoder-decoder networks (U-Net) capture global luminance context through pooling but destroy organic high-frequency textures.</a:t>
            </a:r>
            <a:br/>
          </a:p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2: High-Resolution Tiling &amp; Boundary Discontinuity Barrier: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Real smartphone photographs regularly exceed 12 to 48 megapixels (3000×4000 to 6000×8000). Direct whole-image tensor processing triggers fatal GPU Out-Of-Memory (OOM) allocation faults. Naive non-overlapping block tiling creates severe orthogonal grid-line boundary stitching discontinuities due to truncated receptive fields at patch edges.</a:t>
            </a:r>
            <a:br/>
          </a:p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3: The Prototype-to-Production Deployment Disconnect: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The overwhelming majority of image denoising research terminates with isolated offline Python or MATLAB scripts tested on downsampled crops. There is a lack of accessible, full-stack, privacy-preserving web services supporting arbitrary dimensions, aspect ratios, live quality metrics, and interactive client-side before/after split sliders.</a:t>
            </a:r>
            <a:b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1. Dual-Stream Synergy: Design a Hybrid U-Net–DnCNN architecture combining multi-scale context flow with non-pooling residual grain modeling via 1×1 cross-channel fusion.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2. Deep Residual Learning: Formulate the network objective as residual noise estimation R(y), recovering clean images via x̂ = clip(y - R_hybrid(y), 0, 1).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3. Seamless Tiling Engine: Formulate and implement a 2D Hann-window overlapping cosine tiling engine with partition-of-unity proof (Σ w = 1.0) to process arbitrary dimensions without boundary artifacts.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4. Empirical Validation: Benchmark the model against classical and deep learning baselines on 100 paired real-world smartphone captures (1404×2040) with Holm-corrected statistical tests.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5. Full-Stack Cloud Deployment: Deliver an open-source, asynchronous web studio (FastAPI + React 18) featuring live noise estimation (σ̂) and a 3D Three.js photodiode visualizer.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Identified Sustainable Development Goals (SDG):</a:t>
            </a:r>
          </a:p>
          <a:p>
            <a:pPr>
              <a:defRPr sz="950">
                <a:solidFill>
                  <a:srgbClr val="282828"/>
                </a:solidFill>
                <a:latin typeface="Arial"/>
              </a:defRPr>
            </a:pPr>
            <a:r>
              <a:t>• SDG 9: Industry, Innovation and Infrastructure (Edge AI for Mobile ISPs)</a:t>
            </a:r>
            <a:br/>
            <a:r>
              <a:t>• SDG 12: Responsible Consumption (Extending smartphone hardware lifespan via AI)</a:t>
            </a:r>
          </a:p>
          <a:p>
            <a:br/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Technology Readiness Level (TRL) &amp; Outcomes:</a:t>
            </a:r>
          </a:p>
          <a:p>
            <a:pPr>
              <a:defRPr sz="950" b="1">
                <a:solidFill>
                  <a:srgbClr val="006432"/>
                </a:solidFill>
                <a:latin typeface="Arial"/>
              </a:defRPr>
            </a:pPr>
            <a:r>
              <a:t>• TRL Level: TRL 7 / 8 (System Prototype in Operational Environment - Live Web Application)</a:t>
            </a:r>
            <a:br/>
            <a:r>
              <a:t>• Outcome Achieved: Full Research Manuscript prepared for Springer Nature (MTAP) / IEEE Access (Turnitin: 13%, Nil% AI)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545" y="4413148"/>
            <a:ext cx="2447027" cy="223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End-to-End System Architecture Pipeline: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1. Input Capture (y = x + v): Accepts arbitrary resolution RGB smartphone images degraded by Poisson-Gaussian noise.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2. 2D Hann-Window Tiling: Decomposes input into 256×256 patches with 50% overlap (stride 128) and symmetric reflection padding.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3. Stream 1 (Contextual U-Net): Two contracting conv blocks (32/64 filters) with max-pooling, 128-filter bottleneck, expansive decoder with skip connections (captures macro-luminance).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4. Stream 2 (High-Frequency DnCNN): 10 non-pooling convolutional layers with Batch Normalization &amp; ReLU (isolates micro-grain without pooling loss).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5. Cross-Stream Feature Fusion: Concatenates representations (64 channels) followed by a 1×1 convolution with BatchNorm to learn inter-branch non-linear dependencies.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6. Deep Residual Estimation &amp; Subtraction: Estimates 3-channel noise field R_hybrid(y), recovering clean image: x̂ = clip(y - R_hybrid(y), 0, 1).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7. Weighted Overlap-Add Reassembly: Blends predicted patches using 2D separable Hann cosine weights; normalizes by accumulated window weights to guarantee seamless output.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FR1: Multi-Format Image Ingestion &amp; Validation: Support JPEG, JPG, PNG, and WebP up to 25 MB with strict magic-byte validation and anti-path-traversal protection.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FR2: EXIF Orientation &amp; Dimension Preservation: Automatically correct orientation flags (ImageOps.exif_transpose) and preserve 100% of native pixel dimensions without forced resizing.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FR3: Asynchronous Deep Learning Execution: Execute model inference in sub-second latency through single-load model caching in GPU/CPU memory (no per-request re-initialization).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FR4: Memory-Bounded Full-Resolution Tiling: Support multi-megapixel smartphone captures (12+ to 48 MP) via 2D Hann-window overlapping tiling with a constant memory footprint under 620 MB.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FR5: Interactive Before/After Split Inspection: Provide a touch/pointer-enabled interactive comparison slider with a side-by-side inspection toggle for instant visual verification.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FR6: Real-Time Quality Metrics &amp; Noise Variance: Display measured processing latency (ms), ground-truth PSNR/SSIM, and Immerkaer Laplacian blind noise standard deviation estimation (σ̂).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FR7: Secure Export &amp; In-Memory Privacy: Stream processed images directly to the client via Base64/Blob data URIs with zero permanent server-side file retention.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1: Preprocessing &amp; Ingestion Engine: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Performs secure image decoding, EXIF orientation correction, float32 normalization to [0, 1], and boundary reflection padding.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2: Hybrid U-Net–DnCNN Deep Learning Core: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Implements the dual-stream feature extraction network in TensorFlow/Keras, combining contracting-expansive U-Net with non-pooling residual DnCNN and 1×1 fusion.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3: 2D Hann-Window Tiling &amp; Blending Engine: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Executes 256×256 patch extraction at 50% stride (S=128), batched neural forward passes, and weighted overlap-add synthesis satisfying partition of unity.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4: Asynchronous REST Microservice (FastAPI):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Provides high-throughput endpoints (POST /api/denoise, GET /api/health, GET /api/model-info) with single-load model lifespan and memory-safe streaming.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5: Interactive Glassmorphic Web UI &amp; 3D WebGL Visualizer: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Built with React 18, TypeScript, and Tailwind CSS v4, featuring Dark/Light mode, before/after split sliders, and a Three.js 3D photodiode sensor simulation.</a:t>
            </a:r>
            <a:b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Quantitative Restoration Benchmarks on Smartphone Dataset (1404×2040 native resolution):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Architecture / Model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Receptive Field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PSNR (dB)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SSIM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Noisy Baseline Input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24.04 ± 0.42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0.7005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Baseline 3-Layer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40,451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7 ×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26.87 ± 0.31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Standard DnCNN (10 Layers)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332,675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21 × 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27.42 ± 0.28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0.8650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Standard U-Net (3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488,323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Multi-Scale (~68px)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27.95 ± 0.25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Proposed Hybrid U-Net–DnCNN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350,947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Dual-Scale (Global+Local)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28.60 ± 0.22 dB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0.8920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Key Experimental Findings: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Restoration Gain: Proposed Hybrid model achieves +4.56 dB PSNR and +0.1915 SSIM over raw capture, outperforming U-Net by +0.65 dB and DnCNN by +1.18 dB (Wilcoxon signed-rank test p &lt; 0.001).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Ablation Proof: Removing DnCNN drops SSIM by 0.0210 (texture blurring); removing U-Net drops PSNR by 1.18 dB (chroma blotches). 1×1 cross-channel fusion adds +0.42 dB over simple concatenation.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Tiling Seam Elimination: Naive tiling causes severe boundary grid lines (Mean Boundary Discontinuity MBGD = 0.0842), whereas 2D Hann-window tiling suppresses seams to an imperceptible MBGD = 0.0012 within 620 MB VRAM.</a:t>
            </a: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Conclusion: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Developed NeuroClean, a dual-stream Hybrid U-Net–DnCNN neural network that simultaneously resolves large-scale luminance mottling and isolates fine stochastic sensor grain in smartphone photography.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Formulated deep residual noise learning, establishing superior convergence stability and structural edge preservation compared to direct clean image synthesis.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Engineered a 2D Hann-window overlapping cosine tiling engine with partition of unity, completely eliminating boundary seam discontinuities while preserving 100% of native image dimensions.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Validated statistically significant improvements across paired smartphone captures (28.60+ dB PSNR, 0.8920+ SSIM, p &lt; 0.001) and delivered an open-source, full-stack cloud web studio.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Future Work &amp; Roadmap: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1. RAW Bayer-Pattern Sensor Denoising: Extend the hybrid model to raw sensor data prior to ISP demosaicing and non-linear tone-curve mapping.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2. Temporal Multi-Frame Video Fusion: Incorporate temporal recurrent connections for low-light smartphone video restoration.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3. Hardware Quantization: Quantize the network to 8-bit integer (INT8) precision using TensorRT and CoreML for on-device mobile NPU deployment.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1. Research Journal Publication (Prepared &amp; Submitted):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Manuscript Title: "NeuroClean: High-Fidelity Smartphone Image Denoising via Hybrid U-Net–DnCNN Dual-Stream Deep Learning and Overlapping Hann-Window Tiling"</a:t>
            </a:r>
            <a:br/>
            <a:r>
              <a:t>• Target Journal: Multimedia Tools and Applications (Springer Nature) / IEEE Access</a:t>
            </a:r>
            <a:br/>
            <a:r>
              <a:t>• Plagiarism &amp; AI Verification: Turnitin Plagiarism: 13%   |   Turnitin AI Score: Nil %</a:t>
            </a:r>
            <a:br/>
            <a:r>
              <a:t>• Authors: Majji Naveen, Parri Hari Chandan, M. Siva Charan Reddy, under the Supervision of Dr. Jayalakshmi M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2. Live Production Cloud Deployment: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Live Public URL: https://levy-interstate-parcel-bennett.trycloudflare.com</a:t>
            </a:r>
            <a:br/>
            <a:r>
              <a:t>• Deployed with FastAPI asynchronous backend, React glassmorphic UI, live noise metrics, and 3D WebGL sensor visualizer.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3. Open-Source Codebase &amp; Artifacts: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GitHub Repository: https://github.com/majjinaveen46/Image-Denoising-Smartphone</a:t>
            </a:r>
            <a:br/>
            <a:r>
              <a:t>• Includes model weights, Hann-window tiling pipeline, automated test suite, Docker container, and documentation.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01600" y="1442399"/>
            <a:ext cx="91440" cy="91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3035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[1] </a:t>
            </a:r>
            <a:r>
              <a:rPr sz="800">
                <a:solidFill>
                  <a:srgbClr val="282828"/>
                </a:solidFill>
                <a:latin typeface="Arial"/>
              </a:rPr>
              <a:t>A. Dudhane, S. W. Zamir, S. Khan, and F. S. Khan, "Burst Image Restoration and Enhancement," in Proc. CVPR / arXiv:2110.03680, 2022. </a:t>
            </a:r>
            <a:r>
              <a:rPr sz="800" b="1" u="sng">
                <a:solidFill>
                  <a:srgbClr val="0066CC"/>
                </a:solidFill>
                <a:latin typeface="Arial"/>
                <a:hlinkClick r:id="rId2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[2] </a:t>
            </a:r>
            <a:r>
              <a:rPr sz="800">
                <a:solidFill>
                  <a:srgbClr val="282828"/>
                </a:solidFill>
                <a:latin typeface="Arial"/>
              </a:rPr>
              <a:t>R. Flepp, A. Ignatov, R. Timofte, and L. Van Gool, "Real-World Mobile Image Denoising Dataset with Efficient Baselines," in Proc. IEEE/CVF CVPR, pp. 2596–2606,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3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[3] </a:t>
            </a:r>
            <a:r>
              <a:rPr sz="800">
                <a:solidFill>
                  <a:srgbClr val="282828"/>
                </a:solidFill>
                <a:latin typeface="Arial"/>
              </a:rPr>
              <a:t>S. Guo, "Toward effective image restoration from raw domain," Ph.D. Dissertation, Dept. of Computing, The Hong Kong Polytechnic University,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4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[4] </a:t>
            </a:r>
            <a:r>
              <a:rPr sz="800">
                <a:solidFill>
                  <a:srgbClr val="282828"/>
                </a:solidFill>
                <a:latin typeface="Arial"/>
              </a:rPr>
              <a:t>Z. Li, H. Liu, L. Cheng, and X. Jia, "Image Denoising Algorithm Based on Gradient Domain Guided Filtering and NSST," IEEE Access, vol. 11, pp. 11923–11933,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5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[5] </a:t>
            </a:r>
            <a:r>
              <a:rPr sz="800">
                <a:solidFill>
                  <a:srgbClr val="282828"/>
                </a:solidFill>
                <a:latin typeface="Arial"/>
              </a:rPr>
              <a:t>L. Kumari, N. Mittal, and M. Modi, "Comparative Analysis of Noise Reduction Filters for Medical Images," ResearchGate / Signal &amp; Image Processing,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6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[6] </a:t>
            </a:r>
            <a:r>
              <a:rPr sz="800">
                <a:solidFill>
                  <a:srgbClr val="282828"/>
                </a:solidFill>
                <a:latin typeface="Arial"/>
              </a:rPr>
              <a:t>J. Lee, "Development of Alternative Filters to Enhance the Quality of Digital Images," ResearchGate / Digital Imaging Systems,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7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[7] </a:t>
            </a:r>
            <a:r>
              <a:rPr sz="800">
                <a:solidFill>
                  <a:srgbClr val="282828"/>
                </a:solidFill>
                <a:latin typeface="Arial"/>
              </a:rPr>
              <a:t>R. S. Jebur, M. H. Bin Mohamed Zabil, D. A. Hammood, and L. K. Cheng, "A comprehensive review of image denoising in deep learning," Multimedia Tools and Applications, Springer,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8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[8] </a:t>
            </a:r>
            <a:r>
              <a:rPr sz="800">
                <a:solidFill>
                  <a:srgbClr val="282828"/>
                </a:solidFill>
                <a:latin typeface="Arial"/>
              </a:rPr>
              <a:t>S. Mittal et al., "LIVENet: A Novel Network for Real-World Low-Light Image Denoising and Enhancement," in Proc. IEEE/CVF WACV, pp. 2960–2970,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9"/>
              </a:rPr>
              <a:t>[Link]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325880"/>
            <a:ext cx="53035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[9] </a:t>
            </a:r>
            <a:r>
              <a:rPr sz="800">
                <a:solidFill>
                  <a:srgbClr val="282828"/>
                </a:solidFill>
                <a:latin typeface="Arial"/>
              </a:rPr>
              <a:t>Z. Zhou, Y. Chen, and Y. Zhou, "Deep Dynamic Memory Augmented Attentional Dictionary Learning for Image Denoising," IEEE Trans. Circuits Syst. Video Technol., vol. 33, no. 9, pp. 4668–4682,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0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[10] </a:t>
            </a:r>
            <a:r>
              <a:rPr sz="800">
                <a:solidFill>
                  <a:srgbClr val="282828"/>
                </a:solidFill>
                <a:latin typeface="Arial"/>
              </a:rPr>
              <a:t>O. Gupta, I. N. Kalapala, and K. M. Bhurchandi, "Enhancing Image Denoising Performance through a Family of Algorithms," in Proc. IEEE ISCON, pp. 1–6,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1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[11] </a:t>
            </a:r>
            <a:r>
              <a:rPr sz="800">
                <a:solidFill>
                  <a:srgbClr val="282828"/>
                </a:solidFill>
                <a:latin typeface="Arial"/>
              </a:rPr>
              <a:t>L. Zhou, D. Zhou, H. Yang, S. Yang, and L. Nie, "Multi-scale network toward real-world image denoising," Int. J. Machine Learning &amp; Cybernetics, Springer, vol. 14, pp. 1109–1123,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2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[12] </a:t>
            </a:r>
            <a:r>
              <a:rPr sz="800">
                <a:solidFill>
                  <a:srgbClr val="282828"/>
                </a:solidFill>
                <a:latin typeface="Arial"/>
              </a:rPr>
              <a:t>A. Ulu, G. Yildiz, and B. Dizdaroğlu, "MLFAN: Multilevel Feature Attention Network With Texture Prior for Image Denoising," IEEE Access, vol. 11, pp. 35647–35661,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3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[13] </a:t>
            </a:r>
            <a:r>
              <a:rPr sz="800">
                <a:solidFill>
                  <a:srgbClr val="282828"/>
                </a:solidFill>
                <a:latin typeface="Arial"/>
              </a:rPr>
              <a:t>G. Zhang, G. Zhang, Q. Lu, Y. Bo, and X. Zhou, "Application of Improved Canny Algorithm in Image Edge Detection of Transmission Lines," in Proc. IEEE ICICML, pp. 312–316,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4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[14] </a:t>
            </a:r>
            <a:r>
              <a:rPr sz="800">
                <a:solidFill>
                  <a:srgbClr val="282828"/>
                </a:solidFill>
                <a:latin typeface="Arial"/>
              </a:rPr>
              <a:t>A. Ranganath, F. Santiago, O. DeGuchy, M. Singhal, and R. F. Marcia, "Recurrent Neural Imaging: An Evolutionary Approach for Mixed Poisson-Gaussian Image Denoising," in Proc. IEEE DISCOVERY, pp. 1–6,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5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[15] </a:t>
            </a:r>
            <a:r>
              <a:rPr sz="800">
                <a:solidFill>
                  <a:srgbClr val="282828"/>
                </a:solidFill>
                <a:latin typeface="Arial"/>
              </a:rPr>
              <a:t>T. Direk, "Image denoising by linear regression on non-local means algorithm," Signal, Image and Video Processing, Springer, vol. 18, pp. 3185–3194,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6"/>
              </a:rPr>
              <a:t>[Link]</a:t>
            </a: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